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 Thin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4E7310-D981-40D6-A333-FE5BA2AD1A8A}">
  <a:tblStyle styleId="{864E7310-D981-40D6-A333-FE5BA2AD1A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Thin-bold.fntdata"/><Relationship Id="rId23" Type="http://schemas.openxmlformats.org/officeDocument/2006/relationships/font" Target="fonts/RobotoThi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Thin-boldItalic.fntdata"/><Relationship Id="rId25" Type="http://schemas.openxmlformats.org/officeDocument/2006/relationships/font" Target="fonts/RobotoThin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43f9e4fd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43f9e4fd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66a97f678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66a97f678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3e74e2d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3e74e2d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8b71129b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8b71129b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66a97f678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66a97f678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1af5dac53_4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21af5dac53_4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21af5dac53_4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21af5dac53_4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8a5f8f9f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8a5f8f9f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1af5dac53_4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21af5dac53_4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2460b54442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2460b54442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1af5dac53_5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21af5dac53_5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1af5dac53_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1af5dac53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21af5dac53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21af5dac53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21af5dac53_5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21af5dac53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21af5dac53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21af5dac53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143f9e4fd9_0_1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143f9e4fd9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QNGNqqzi_VBU2MocRoVCxO_CtyXT5Wld/view" TargetMode="External"/><Relationship Id="rId5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XenSzwv83xrc2AIOeYLnv-v1dEKPPI6r/view" TargetMode="External"/><Relationship Id="rId5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7.jpg"/><Relationship Id="rId5" Type="http://schemas.openxmlformats.org/officeDocument/2006/relationships/image" Target="../media/image19.jpg"/><Relationship Id="rId6" Type="http://schemas.openxmlformats.org/officeDocument/2006/relationships/image" Target="../media/image16.jpg"/><Relationship Id="rId7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75650" y="223075"/>
            <a:ext cx="9594600" cy="4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GROUP-02: EEE-299: JUNIOR DESIGN PROJECT</a:t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844625" y="242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{864E7310-D981-40D6-A333-FE5BA2AD1A8A}</a:tableStyleId>
              </a:tblPr>
              <a:tblGrid>
                <a:gridCol w="3619500"/>
                <a:gridCol w="3619500"/>
              </a:tblGrid>
              <a:tr h="28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18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Anan Faiyaz Radin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1931714643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Kazi Ejaj Hossain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1931311043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Ashraf Uddin Opu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1931087043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Meher Nigar Abila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1931138043</a:t>
                      </a:r>
                      <a:endParaRPr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00" y="24350"/>
            <a:ext cx="7200000" cy="16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939400" y="273925"/>
            <a:ext cx="531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 CAR PARKING SYSTEM</a:t>
            </a:r>
            <a:endParaRPr b="1" sz="3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3439100" y="238188"/>
            <a:ext cx="35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950" y="-187900"/>
            <a:ext cx="5703500" cy="8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844300" y="-19687"/>
            <a:ext cx="4218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INTRODUCTION &amp; MOTIVATION</a:t>
            </a:r>
            <a:endParaRPr b="1" sz="1900">
              <a:solidFill>
                <a:schemeClr val="lt1"/>
              </a:solidFill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3845550" y="858275"/>
            <a:ext cx="1538100" cy="442513"/>
            <a:chOff x="3802950" y="1145950"/>
            <a:chExt cx="1538100" cy="442513"/>
          </a:xfrm>
        </p:grpSpPr>
        <p:sp>
          <p:nvSpPr>
            <p:cNvPr id="66" name="Google Shape;66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SMART PARKING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2307450" y="1509825"/>
            <a:ext cx="1538100" cy="466225"/>
            <a:chOff x="3802950" y="1145950"/>
            <a:chExt cx="1538100" cy="466225"/>
          </a:xfrm>
        </p:grpSpPr>
        <p:sp>
          <p:nvSpPr>
            <p:cNvPr id="69" name="Google Shape;69;p14"/>
            <p:cNvSpPr txBox="1"/>
            <p:nvPr/>
          </p:nvSpPr>
          <p:spPr>
            <a:xfrm>
              <a:off x="3802950" y="1169675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AUTOMATIC,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FLEXIBLE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TECHNOLOGY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5383650" y="1489775"/>
            <a:ext cx="1538100" cy="442513"/>
            <a:chOff x="3802950" y="1145950"/>
            <a:chExt cx="1538100" cy="442513"/>
          </a:xfrm>
        </p:grpSpPr>
        <p:sp>
          <p:nvSpPr>
            <p:cNvPr id="72" name="Google Shape;72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TIME SAVING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5383650" y="2167650"/>
            <a:ext cx="1538100" cy="442513"/>
            <a:chOff x="3802950" y="1145950"/>
            <a:chExt cx="1538100" cy="442513"/>
          </a:xfrm>
        </p:grpSpPr>
        <p:sp>
          <p:nvSpPr>
            <p:cNvPr id="75" name="Google Shape;75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HASSLESS</a:t>
              </a:r>
              <a:r>
                <a:rPr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PARKING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2307450" y="2792875"/>
            <a:ext cx="1538100" cy="442513"/>
            <a:chOff x="3802950" y="1145950"/>
            <a:chExt cx="1538100" cy="442513"/>
          </a:xfrm>
        </p:grpSpPr>
        <p:sp>
          <p:nvSpPr>
            <p:cNvPr id="78" name="Google Shape;78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" name="Google Shape;80;p14"/>
          <p:cNvGrpSpPr/>
          <p:nvPr/>
        </p:nvGrpSpPr>
        <p:grpSpPr>
          <a:xfrm>
            <a:off x="5383650" y="2796550"/>
            <a:ext cx="1538100" cy="442513"/>
            <a:chOff x="3802950" y="1145950"/>
            <a:chExt cx="1538100" cy="442513"/>
          </a:xfrm>
        </p:grpSpPr>
        <p:sp>
          <p:nvSpPr>
            <p:cNvPr id="81" name="Google Shape;81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2307450" y="3418100"/>
            <a:ext cx="1538100" cy="442513"/>
            <a:chOff x="3802950" y="1145950"/>
            <a:chExt cx="1538100" cy="442513"/>
          </a:xfrm>
        </p:grpSpPr>
        <p:sp>
          <p:nvSpPr>
            <p:cNvPr id="84" name="Google Shape;84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5383650" y="3418100"/>
            <a:ext cx="1538100" cy="442513"/>
            <a:chOff x="3802950" y="1145950"/>
            <a:chExt cx="1538100" cy="442513"/>
          </a:xfrm>
        </p:grpSpPr>
        <p:sp>
          <p:nvSpPr>
            <p:cNvPr id="87" name="Google Shape;87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2307450" y="4043325"/>
            <a:ext cx="1538100" cy="442513"/>
            <a:chOff x="3802950" y="1145950"/>
            <a:chExt cx="1538100" cy="442513"/>
          </a:xfrm>
        </p:grpSpPr>
        <p:sp>
          <p:nvSpPr>
            <p:cNvPr id="90" name="Google Shape;90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14"/>
          <p:cNvGrpSpPr/>
          <p:nvPr/>
        </p:nvGrpSpPr>
        <p:grpSpPr>
          <a:xfrm>
            <a:off x="5383650" y="4039650"/>
            <a:ext cx="1538100" cy="442513"/>
            <a:chOff x="3802950" y="1145950"/>
            <a:chExt cx="1538100" cy="442513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/>
        </p:nvSpPr>
        <p:spPr>
          <a:xfrm>
            <a:off x="5438425" y="4108525"/>
            <a:ext cx="350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REDUCE TRAFFIC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114700" y="2792875"/>
            <a:ext cx="19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CURRENT LOCATION OF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VEHICLE</a:t>
            </a:r>
            <a:endParaRPr sz="12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2307450" y="2151350"/>
            <a:ext cx="1538100" cy="442513"/>
            <a:chOff x="3802950" y="1145950"/>
            <a:chExt cx="1538100" cy="442513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802950" y="1145963"/>
              <a:ext cx="1538100" cy="442500"/>
            </a:xfrm>
            <a:prstGeom prst="rect">
              <a:avLst/>
            </a:prstGeom>
            <a:solidFill>
              <a:srgbClr val="155B54"/>
            </a:solidFill>
            <a:ln cap="flat" cmpd="sng" w="19050">
              <a:solidFill>
                <a:srgbClr val="155B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802950" y="1145950"/>
              <a:ext cx="1538100" cy="52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2307450" y="2138163"/>
            <a:ext cx="19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CHECK-IN &amp; OUT TIME   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            UPDATE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478500" y="28850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COST EFFECTIVE</a:t>
            </a:r>
            <a:endParaRPr sz="1300"/>
          </a:p>
        </p:txBody>
      </p:sp>
      <p:sp>
        <p:nvSpPr>
          <p:cNvPr id="102" name="Google Shape;102;p14"/>
          <p:cNvSpPr txBox="1"/>
          <p:nvPr/>
        </p:nvSpPr>
        <p:spPr>
          <a:xfrm>
            <a:off x="5438425" y="3496800"/>
            <a:ext cx="350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WELL ORGANIZE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447475" y="3495050"/>
            <a:ext cx="350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LESS TROUBLE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380000" y="4193925"/>
            <a:ext cx="350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2270675" y="41434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ENVIRONMENT FRIENDLY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3956500" y="232113"/>
            <a:ext cx="35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/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00" y="-170175"/>
            <a:ext cx="3475650" cy="6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341725" y="-64500"/>
            <a:ext cx="421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LITERATURE REVIEW</a:t>
            </a:r>
            <a:endParaRPr b="1" sz="1500">
              <a:solidFill>
                <a:schemeClr val="lt1"/>
              </a:solidFill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1000"/>
            <a:ext cx="3652200" cy="42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9575" y="351000"/>
            <a:ext cx="3299150" cy="33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8300" y="815900"/>
            <a:ext cx="2915700" cy="4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825" y="-206775"/>
            <a:ext cx="2616349" cy="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3439150" y="-20287"/>
            <a:ext cx="3506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COMPONENTS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4200" y="821724"/>
            <a:ext cx="2898450" cy="39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6"/>
          <p:cNvGrpSpPr/>
          <p:nvPr/>
        </p:nvGrpSpPr>
        <p:grpSpPr>
          <a:xfrm>
            <a:off x="1144365" y="1378052"/>
            <a:ext cx="3276764" cy="400985"/>
            <a:chOff x="1083025" y="2306625"/>
            <a:chExt cx="1834900" cy="297224"/>
          </a:xfrm>
        </p:grpSpPr>
        <p:sp>
          <p:nvSpPr>
            <p:cNvPr id="124" name="Google Shape;124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1144358" y="2027227"/>
            <a:ext cx="2972538" cy="400985"/>
            <a:chOff x="1083025" y="2306625"/>
            <a:chExt cx="1834900" cy="297224"/>
          </a:xfrm>
        </p:grpSpPr>
        <p:sp>
          <p:nvSpPr>
            <p:cNvPr id="127" name="Google Shape;127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1144351" y="2623827"/>
            <a:ext cx="2472895" cy="400985"/>
            <a:chOff x="1083025" y="2306625"/>
            <a:chExt cx="1834900" cy="297224"/>
          </a:xfrm>
        </p:grpSpPr>
        <p:sp>
          <p:nvSpPr>
            <p:cNvPr id="130" name="Google Shape;130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1144350" y="3266752"/>
            <a:ext cx="3084467" cy="400985"/>
            <a:chOff x="1083025" y="2306625"/>
            <a:chExt cx="1834900" cy="297224"/>
          </a:xfrm>
        </p:grpSpPr>
        <p:sp>
          <p:nvSpPr>
            <p:cNvPr id="133" name="Google Shape;133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1181086" y="3915544"/>
            <a:ext cx="2743176" cy="400985"/>
            <a:chOff x="1083025" y="2306625"/>
            <a:chExt cx="1834900" cy="297224"/>
          </a:xfrm>
        </p:grpSpPr>
        <p:sp>
          <p:nvSpPr>
            <p:cNvPr id="136" name="Google Shape;136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6"/>
          <p:cNvSpPr txBox="1"/>
          <p:nvPr/>
        </p:nvSpPr>
        <p:spPr>
          <a:xfrm>
            <a:off x="1316850" y="1347775"/>
            <a:ext cx="376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ARDUINO MEGA - 2560 - 1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316850" y="1920550"/>
            <a:ext cx="35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ULTRASONIC SENSOR - 6</a:t>
            </a:r>
            <a:r>
              <a:rPr b="1" lang="en" sz="1600">
                <a:solidFill>
                  <a:schemeClr val="lt1"/>
                </a:solidFill>
              </a:rPr>
              <a:t> 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231625" y="2513875"/>
            <a:ext cx="347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SERVO MOTOR - 2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233950" y="3262738"/>
            <a:ext cx="35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I2C &amp; LCD DISPLAY 20X4 - 1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368775" y="3900475"/>
            <a:ext cx="35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JUMPER CABLES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3162025" y="2139975"/>
            <a:ext cx="350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(HC-SR04)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2717175" y="27655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(SG-90)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525" y="-206175"/>
            <a:ext cx="2757150" cy="82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3436250" y="-33925"/>
            <a:ext cx="3506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MODEL DESIGN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151" name="Google Shape;151;p17" title="Model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75" y="409225"/>
            <a:ext cx="9052273" cy="47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725" y="-160550"/>
            <a:ext cx="2799774" cy="7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3682675" y="-18875"/>
            <a:ext cx="35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CIRCUIT DIAGRAM</a:t>
            </a:r>
            <a:endParaRPr b="1" sz="1600">
              <a:solidFill>
                <a:schemeClr val="lt1"/>
              </a:solidFill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425" y="377400"/>
            <a:ext cx="7418424" cy="47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825" y="-158250"/>
            <a:ext cx="2356350" cy="5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3737450" y="-92075"/>
            <a:ext cx="436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SIMULATIO</a:t>
            </a:r>
            <a:r>
              <a:rPr b="1" lang="en" sz="1800">
                <a:solidFill>
                  <a:schemeClr val="lt1"/>
                </a:solidFill>
              </a:rPr>
              <a:t>N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165" name="Google Shape;165;p19" title="Simulatio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49700"/>
            <a:ext cx="9115776" cy="489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200" y="-176525"/>
            <a:ext cx="2270425" cy="69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3633950" y="-112662"/>
            <a:ext cx="350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</a:rPr>
              <a:t>CODING</a:t>
            </a:r>
            <a:endParaRPr b="1" sz="2500">
              <a:solidFill>
                <a:schemeClr val="lt1"/>
              </a:solidFill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-6210" r="6210" t="0"/>
          <a:stretch/>
        </p:blipFill>
        <p:spPr>
          <a:xfrm>
            <a:off x="297375" y="520600"/>
            <a:ext cx="4006575" cy="44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5650" y="529463"/>
            <a:ext cx="4096424" cy="447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525" y="-176525"/>
            <a:ext cx="2616349" cy="8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3670450" y="-48800"/>
            <a:ext cx="350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</a:rPr>
              <a:t>CODING</a:t>
            </a:r>
            <a:endParaRPr b="1" sz="2500">
              <a:solidFill>
                <a:schemeClr val="lt1"/>
              </a:solidFill>
            </a:endParaRPr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75" y="520600"/>
            <a:ext cx="4123324" cy="454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9250" y="520600"/>
            <a:ext cx="4174100" cy="454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825" y="-158250"/>
            <a:ext cx="2356350" cy="5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3780000" y="-46350"/>
            <a:ext cx="35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FLOWCHART</a:t>
            </a:r>
            <a:endParaRPr b="1" sz="1600">
              <a:solidFill>
                <a:schemeClr val="lt1"/>
              </a:solidFill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7800" y="354325"/>
            <a:ext cx="3767600" cy="46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050" y="-188700"/>
            <a:ext cx="6257425" cy="8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2404375" y="-7425"/>
            <a:ext cx="725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</a:rPr>
              <a:t>HARDWARE IMPLEMENTATION</a:t>
            </a:r>
            <a:endParaRPr b="1" sz="2100">
              <a:solidFill>
                <a:schemeClr val="lt1"/>
              </a:solidFill>
            </a:endParaRPr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188" y="810050"/>
            <a:ext cx="2308475" cy="403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 rotWithShape="1">
          <a:blip r:embed="rId5">
            <a:alphaModFix/>
          </a:blip>
          <a:srcRect b="-3219" l="0" r="0" t="3220"/>
          <a:stretch/>
        </p:blipFill>
        <p:spPr>
          <a:xfrm>
            <a:off x="2249600" y="810050"/>
            <a:ext cx="2159524" cy="415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00" y="493275"/>
            <a:ext cx="2159524" cy="415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 rotWithShape="1">
          <a:blip r:embed="rId7">
            <a:alphaModFix/>
          </a:blip>
          <a:srcRect b="0" l="-2100" r="2100" t="0"/>
          <a:stretch/>
        </p:blipFill>
        <p:spPr>
          <a:xfrm>
            <a:off x="6730125" y="529350"/>
            <a:ext cx="2316725" cy="4156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525" y="-176525"/>
            <a:ext cx="3091924" cy="6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3591300" y="-72587"/>
            <a:ext cx="350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DEMONSTRATION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450" y="-188725"/>
            <a:ext cx="3506100" cy="9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3280900" y="50675"/>
            <a:ext cx="3506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TROUBLESHOOTING</a:t>
            </a:r>
            <a:endParaRPr b="1" sz="1700">
              <a:solidFill>
                <a:schemeClr val="lt1"/>
              </a:solidFill>
            </a:endParaRPr>
          </a:p>
        </p:txBody>
      </p:sp>
      <p:grpSp>
        <p:nvGrpSpPr>
          <p:cNvPr id="211" name="Google Shape;211;p25"/>
          <p:cNvGrpSpPr/>
          <p:nvPr/>
        </p:nvGrpSpPr>
        <p:grpSpPr>
          <a:xfrm>
            <a:off x="1716851" y="1423188"/>
            <a:ext cx="2939827" cy="446425"/>
            <a:chOff x="1593000" y="2322568"/>
            <a:chExt cx="2939827" cy="643356"/>
          </a:xfrm>
        </p:grpSpPr>
        <p:sp>
          <p:nvSpPr>
            <p:cNvPr id="212" name="Google Shape;212;p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 SENSOR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217" name="Google Shape;217;p25"/>
          <p:cNvGrpSpPr/>
          <p:nvPr/>
        </p:nvGrpSpPr>
        <p:grpSpPr>
          <a:xfrm>
            <a:off x="2411001" y="1869616"/>
            <a:ext cx="2939827" cy="643319"/>
            <a:chOff x="1593000" y="2168651"/>
            <a:chExt cx="2939827" cy="797273"/>
          </a:xfrm>
        </p:grpSpPr>
        <p:sp>
          <p:nvSpPr>
            <p:cNvPr id="218" name="Google Shape;218;p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2330450" y="21686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 </a:t>
              </a:r>
              <a:r>
                <a:rPr lang="en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SERVO-MOTOR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223" name="Google Shape;223;p25"/>
          <p:cNvGrpSpPr/>
          <p:nvPr/>
        </p:nvGrpSpPr>
        <p:grpSpPr>
          <a:xfrm>
            <a:off x="3112551" y="2647165"/>
            <a:ext cx="2939827" cy="446425"/>
            <a:chOff x="1593000" y="2322568"/>
            <a:chExt cx="2939827" cy="643356"/>
          </a:xfrm>
        </p:grpSpPr>
        <p:sp>
          <p:nvSpPr>
            <p:cNvPr id="224" name="Google Shape;224;p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 WIRING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229" name="Google Shape;229;p25"/>
          <p:cNvGrpSpPr/>
          <p:nvPr/>
        </p:nvGrpSpPr>
        <p:grpSpPr>
          <a:xfrm>
            <a:off x="3793201" y="3227843"/>
            <a:ext cx="2939827" cy="461350"/>
            <a:chOff x="1593000" y="2322568"/>
            <a:chExt cx="2939827" cy="643356"/>
          </a:xfrm>
        </p:grpSpPr>
        <p:sp>
          <p:nvSpPr>
            <p:cNvPr id="230" name="Google Shape;230;p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 CODING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235" name="Google Shape;235;p25"/>
          <p:cNvGrpSpPr/>
          <p:nvPr/>
        </p:nvGrpSpPr>
        <p:grpSpPr>
          <a:xfrm>
            <a:off x="4487326" y="3823445"/>
            <a:ext cx="2939827" cy="421012"/>
            <a:chOff x="1593000" y="2322568"/>
            <a:chExt cx="2939827" cy="643356"/>
          </a:xfrm>
        </p:grpSpPr>
        <p:sp>
          <p:nvSpPr>
            <p:cNvPr id="236" name="Google Shape;236;p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DISPLAY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05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175" y="-320850"/>
            <a:ext cx="4559150" cy="130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3159125" y="102375"/>
            <a:ext cx="350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FURTHER </a:t>
            </a:r>
            <a:r>
              <a:rPr b="1" lang="en" sz="1800">
                <a:solidFill>
                  <a:schemeClr val="lt1"/>
                </a:solidFill>
              </a:rPr>
              <a:t>IMPROVEMENT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247" name="Google Shape;247;p26"/>
          <p:cNvSpPr/>
          <p:nvPr/>
        </p:nvSpPr>
        <p:spPr>
          <a:xfrm rot="-5400000">
            <a:off x="4163675" y="-53475"/>
            <a:ext cx="670500" cy="2679600"/>
          </a:xfrm>
          <a:prstGeom prst="roundRect">
            <a:avLst>
              <a:gd fmla="val 50000" name="adj"/>
            </a:avLst>
          </a:prstGeom>
          <a:solidFill>
            <a:srgbClr val="0B7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6"/>
          <p:cNvSpPr/>
          <p:nvPr/>
        </p:nvSpPr>
        <p:spPr>
          <a:xfrm rot="-5400000">
            <a:off x="4163675" y="780675"/>
            <a:ext cx="670500" cy="2679600"/>
          </a:xfrm>
          <a:prstGeom prst="roundRect">
            <a:avLst>
              <a:gd fmla="val 50000" name="adj"/>
            </a:avLst>
          </a:prstGeom>
          <a:solidFill>
            <a:srgbClr val="0B7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 rot="-5400000">
            <a:off x="4194100" y="1614825"/>
            <a:ext cx="670500" cy="2679600"/>
          </a:xfrm>
          <a:prstGeom prst="roundRect">
            <a:avLst>
              <a:gd fmla="val 50000" name="adj"/>
            </a:avLst>
          </a:prstGeom>
          <a:solidFill>
            <a:srgbClr val="0B7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/>
          <p:nvPr/>
        </p:nvSpPr>
        <p:spPr>
          <a:xfrm rot="-5400000">
            <a:off x="4225800" y="2448975"/>
            <a:ext cx="670500" cy="2679600"/>
          </a:xfrm>
          <a:prstGeom prst="roundRect">
            <a:avLst>
              <a:gd fmla="val 50000" name="adj"/>
            </a:avLst>
          </a:prstGeom>
          <a:solidFill>
            <a:srgbClr val="0B7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3489325" y="1055475"/>
            <a:ext cx="20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Increase Capacity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3223650" y="1797225"/>
            <a:ext cx="243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</a:rPr>
              <a:t>Develop Wireless Sensor Modules</a:t>
            </a:r>
            <a:endParaRPr sz="1100"/>
          </a:p>
        </p:txBody>
      </p:sp>
      <p:sp>
        <p:nvSpPr>
          <p:cNvPr id="253" name="Google Shape;253;p26"/>
          <p:cNvSpPr txBox="1"/>
          <p:nvPr/>
        </p:nvSpPr>
        <p:spPr>
          <a:xfrm>
            <a:off x="3416250" y="2649225"/>
            <a:ext cx="2333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</a:rPr>
              <a:t>Use Better Quality Display</a:t>
            </a:r>
            <a:endParaRPr sz="1300"/>
          </a:p>
        </p:txBody>
      </p:sp>
      <p:sp>
        <p:nvSpPr>
          <p:cNvPr id="254" name="Google Shape;254;p26"/>
          <p:cNvSpPr txBox="1"/>
          <p:nvPr/>
        </p:nvSpPr>
        <p:spPr>
          <a:xfrm>
            <a:off x="3489325" y="3529725"/>
            <a:ext cx="20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Develop </a:t>
            </a:r>
            <a:r>
              <a:rPr lang="en" sz="1800">
                <a:solidFill>
                  <a:schemeClr val="lt1"/>
                </a:solidFill>
              </a:rPr>
              <a:t>Algorithm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55" name="Google Shape;255;p26"/>
          <p:cNvSpPr/>
          <p:nvPr/>
        </p:nvSpPr>
        <p:spPr>
          <a:xfrm rot="-5400000">
            <a:off x="4194100" y="3245900"/>
            <a:ext cx="670500" cy="2679600"/>
          </a:xfrm>
          <a:prstGeom prst="roundRect">
            <a:avLst>
              <a:gd fmla="val 50000" name="adj"/>
            </a:avLst>
          </a:prstGeom>
          <a:solidFill>
            <a:srgbClr val="0B71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3445225" y="4356075"/>
            <a:ext cx="3506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IOT Based Model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525" y="-188700"/>
            <a:ext cx="2860626" cy="9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 txBox="1"/>
          <p:nvPr/>
        </p:nvSpPr>
        <p:spPr>
          <a:xfrm>
            <a:off x="3585225" y="36525"/>
            <a:ext cx="350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CONCLUSION</a:t>
            </a:r>
            <a:endParaRPr b="1" sz="2000">
              <a:solidFill>
                <a:schemeClr val="lt1"/>
              </a:solidFill>
            </a:endParaRPr>
          </a:p>
        </p:txBody>
      </p:sp>
      <p:grpSp>
        <p:nvGrpSpPr>
          <p:cNvPr id="263" name="Google Shape;263;p27"/>
          <p:cNvGrpSpPr/>
          <p:nvPr/>
        </p:nvGrpSpPr>
        <p:grpSpPr>
          <a:xfrm>
            <a:off x="5027125" y="1744577"/>
            <a:ext cx="3323989" cy="492608"/>
            <a:chOff x="943723" y="4469050"/>
            <a:chExt cx="3299899" cy="674436"/>
          </a:xfrm>
        </p:grpSpPr>
        <p:sp>
          <p:nvSpPr>
            <p:cNvPr id="264" name="Google Shape;264;p27"/>
            <p:cNvSpPr/>
            <p:nvPr/>
          </p:nvSpPr>
          <p:spPr>
            <a:xfrm>
              <a:off x="943723" y="4469050"/>
              <a:ext cx="2379900" cy="6744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943723" y="4469063"/>
              <a:ext cx="687600" cy="674400"/>
            </a:xfrm>
            <a:prstGeom prst="rtTriangle">
              <a:avLst/>
            </a:prstGeom>
            <a:solidFill>
              <a:srgbClr val="307B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1125023" y="4601672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1704723" y="4469086"/>
              <a:ext cx="25389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</a:rPr>
                <a:t>SAVING</a:t>
              </a:r>
              <a:r>
                <a:rPr lang="en" sz="1600">
                  <a:solidFill>
                    <a:schemeClr val="lt1"/>
                  </a:solidFill>
                </a:rPr>
                <a:t> TIME</a:t>
              </a:r>
              <a:endParaRPr sz="1600">
                <a:solidFill>
                  <a:schemeClr val="lt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9" name="Google Shape;269;p27"/>
          <p:cNvGrpSpPr/>
          <p:nvPr/>
        </p:nvGrpSpPr>
        <p:grpSpPr>
          <a:xfrm>
            <a:off x="5027152" y="2377433"/>
            <a:ext cx="2616791" cy="492619"/>
            <a:chOff x="943723" y="4469050"/>
            <a:chExt cx="2471002" cy="674450"/>
          </a:xfrm>
        </p:grpSpPr>
        <p:sp>
          <p:nvSpPr>
            <p:cNvPr id="270" name="Google Shape;270;p27"/>
            <p:cNvSpPr/>
            <p:nvPr/>
          </p:nvSpPr>
          <p:spPr>
            <a:xfrm>
              <a:off x="943723" y="4469050"/>
              <a:ext cx="2379900" cy="6744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943723" y="4469063"/>
              <a:ext cx="687600" cy="674400"/>
            </a:xfrm>
            <a:prstGeom prst="rtTriangle">
              <a:avLst/>
            </a:prstGeom>
            <a:solidFill>
              <a:srgbClr val="307B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1089660" y="4601621"/>
              <a:ext cx="3843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1704725" y="4469100"/>
              <a:ext cx="17100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5" name="Google Shape;275;p27"/>
          <p:cNvSpPr txBox="1"/>
          <p:nvPr/>
        </p:nvSpPr>
        <p:spPr>
          <a:xfrm>
            <a:off x="5770475" y="2404700"/>
            <a:ext cx="350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REDUCE TRAFFIC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76" name="Google Shape;276;p27"/>
          <p:cNvGrpSpPr/>
          <p:nvPr/>
        </p:nvGrpSpPr>
        <p:grpSpPr>
          <a:xfrm>
            <a:off x="909876" y="1123929"/>
            <a:ext cx="3224752" cy="532397"/>
            <a:chOff x="1233850" y="341749"/>
            <a:chExt cx="1932609" cy="2777242"/>
          </a:xfrm>
        </p:grpSpPr>
        <p:sp>
          <p:nvSpPr>
            <p:cNvPr id="277" name="Google Shape;277;p27"/>
            <p:cNvSpPr/>
            <p:nvPr/>
          </p:nvSpPr>
          <p:spPr>
            <a:xfrm>
              <a:off x="1233859" y="341749"/>
              <a:ext cx="1932600" cy="248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61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761E8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761E86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80" name="Google Shape;280;p27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27"/>
          <p:cNvSpPr txBox="1"/>
          <p:nvPr/>
        </p:nvSpPr>
        <p:spPr>
          <a:xfrm>
            <a:off x="909875" y="1170150"/>
            <a:ext cx="406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FAMILIARIZATION WITH </a:t>
            </a:r>
            <a:r>
              <a:rPr lang="en" sz="1300"/>
              <a:t>ARDUINO </a:t>
            </a:r>
            <a:endParaRPr sz="1300"/>
          </a:p>
        </p:txBody>
      </p:sp>
      <p:grpSp>
        <p:nvGrpSpPr>
          <p:cNvPr id="282" name="Google Shape;282;p27"/>
          <p:cNvGrpSpPr/>
          <p:nvPr/>
        </p:nvGrpSpPr>
        <p:grpSpPr>
          <a:xfrm>
            <a:off x="923901" y="1744329"/>
            <a:ext cx="3224752" cy="532397"/>
            <a:chOff x="1233850" y="341749"/>
            <a:chExt cx="1932609" cy="2777242"/>
          </a:xfrm>
        </p:grpSpPr>
        <p:sp>
          <p:nvSpPr>
            <p:cNvPr id="283" name="Google Shape;283;p27"/>
            <p:cNvSpPr/>
            <p:nvPr/>
          </p:nvSpPr>
          <p:spPr>
            <a:xfrm>
              <a:off x="1233859" y="341749"/>
              <a:ext cx="1932600" cy="248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61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761E8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761E86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27"/>
          <p:cNvGrpSpPr/>
          <p:nvPr/>
        </p:nvGrpSpPr>
        <p:grpSpPr>
          <a:xfrm>
            <a:off x="923901" y="2404704"/>
            <a:ext cx="3224752" cy="532397"/>
            <a:chOff x="1233850" y="341749"/>
            <a:chExt cx="1932609" cy="2777242"/>
          </a:xfrm>
        </p:grpSpPr>
        <p:sp>
          <p:nvSpPr>
            <p:cNvPr id="288" name="Google Shape;288;p27"/>
            <p:cNvSpPr/>
            <p:nvPr/>
          </p:nvSpPr>
          <p:spPr>
            <a:xfrm>
              <a:off x="1233859" y="341749"/>
              <a:ext cx="1932600" cy="248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61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761E8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761E86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p27"/>
          <p:cNvGrpSpPr/>
          <p:nvPr/>
        </p:nvGrpSpPr>
        <p:grpSpPr>
          <a:xfrm>
            <a:off x="923901" y="2994879"/>
            <a:ext cx="3224752" cy="532397"/>
            <a:chOff x="1233850" y="341749"/>
            <a:chExt cx="1932609" cy="2777242"/>
          </a:xfrm>
        </p:grpSpPr>
        <p:sp>
          <p:nvSpPr>
            <p:cNvPr id="293" name="Google Shape;293;p27"/>
            <p:cNvSpPr/>
            <p:nvPr/>
          </p:nvSpPr>
          <p:spPr>
            <a:xfrm>
              <a:off x="1233859" y="341749"/>
              <a:ext cx="1932600" cy="248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61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761E8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761E86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96" name="Google Shape;296;p27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27"/>
          <p:cNvGrpSpPr/>
          <p:nvPr/>
        </p:nvGrpSpPr>
        <p:grpSpPr>
          <a:xfrm>
            <a:off x="923901" y="3585054"/>
            <a:ext cx="3224752" cy="532397"/>
            <a:chOff x="1233850" y="341749"/>
            <a:chExt cx="1932609" cy="2777242"/>
          </a:xfrm>
        </p:grpSpPr>
        <p:sp>
          <p:nvSpPr>
            <p:cNvPr id="298" name="Google Shape;298;p27"/>
            <p:cNvSpPr/>
            <p:nvPr/>
          </p:nvSpPr>
          <p:spPr>
            <a:xfrm>
              <a:off x="1233859" y="341749"/>
              <a:ext cx="1932600" cy="248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61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1233923" y="1225061"/>
              <a:ext cx="18150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761E8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761E86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27"/>
          <p:cNvSpPr txBox="1"/>
          <p:nvPr/>
        </p:nvSpPr>
        <p:spPr>
          <a:xfrm>
            <a:off x="909875" y="1702813"/>
            <a:ext cx="337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     </a:t>
            </a:r>
            <a:r>
              <a:rPr lang="en" sz="1200"/>
              <a:t> </a:t>
            </a:r>
            <a:r>
              <a:rPr lang="en" sz="1200"/>
              <a:t>INTERACTION BETWEEN ALL THE 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             COMPONENTS</a:t>
            </a:r>
            <a:endParaRPr sz="1200"/>
          </a:p>
        </p:txBody>
      </p:sp>
      <p:sp>
        <p:nvSpPr>
          <p:cNvPr id="303" name="Google Shape;303;p27"/>
          <p:cNvSpPr txBox="1"/>
          <p:nvPr/>
        </p:nvSpPr>
        <p:spPr>
          <a:xfrm>
            <a:off x="987400" y="2451050"/>
            <a:ext cx="406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SIMULATION, DRAWING AND CODING</a:t>
            </a:r>
            <a:endParaRPr sz="1300"/>
          </a:p>
        </p:txBody>
      </p:sp>
      <p:sp>
        <p:nvSpPr>
          <p:cNvPr id="304" name="Google Shape;304;p27"/>
          <p:cNvSpPr txBox="1"/>
          <p:nvPr/>
        </p:nvSpPr>
        <p:spPr>
          <a:xfrm>
            <a:off x="1142625" y="30104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FACING &amp; SOLVING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1142625" y="358505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DESIRED GOAL </a:t>
            </a:r>
            <a:r>
              <a:rPr lang="en"/>
              <a:t>ACHIEVEMENT</a:t>
            </a:r>
            <a:r>
              <a:rPr lang="en"/>
              <a:t> </a:t>
            </a:r>
            <a:endParaRPr/>
          </a:p>
        </p:txBody>
      </p:sp>
      <p:grpSp>
        <p:nvGrpSpPr>
          <p:cNvPr id="306" name="Google Shape;306;p27"/>
          <p:cNvGrpSpPr/>
          <p:nvPr/>
        </p:nvGrpSpPr>
        <p:grpSpPr>
          <a:xfrm>
            <a:off x="4801479" y="1055503"/>
            <a:ext cx="4049656" cy="545303"/>
            <a:chOff x="943525" y="4396903"/>
            <a:chExt cx="2920144" cy="746581"/>
          </a:xfrm>
        </p:grpSpPr>
        <p:sp>
          <p:nvSpPr>
            <p:cNvPr id="307" name="Google Shape;307;p27"/>
            <p:cNvSpPr/>
            <p:nvPr/>
          </p:nvSpPr>
          <p:spPr>
            <a:xfrm>
              <a:off x="943525" y="4469084"/>
              <a:ext cx="2379900" cy="6744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943721" y="4469051"/>
              <a:ext cx="575700" cy="674400"/>
            </a:xfrm>
            <a:prstGeom prst="rtTriangle">
              <a:avLst/>
            </a:prstGeom>
            <a:solidFill>
              <a:srgbClr val="307B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1602269" y="4436295"/>
              <a:ext cx="22614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1169636" y="4396903"/>
              <a:ext cx="330900" cy="6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2" name="Google Shape;312;p27"/>
          <p:cNvSpPr txBox="1"/>
          <p:nvPr/>
        </p:nvSpPr>
        <p:spPr>
          <a:xfrm>
            <a:off x="5637900" y="1120400"/>
            <a:ext cx="350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</a:rPr>
              <a:t>PARKING ADVANCEMENT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idx="1" type="body"/>
          </p:nvPr>
        </p:nvSpPr>
        <p:spPr>
          <a:xfrm>
            <a:off x="150075" y="1487475"/>
            <a:ext cx="8628900" cy="29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9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28"/>
          <p:cNvSpPr txBox="1"/>
          <p:nvPr/>
        </p:nvSpPr>
        <p:spPr>
          <a:xfrm>
            <a:off x="633050" y="4072200"/>
            <a:ext cx="776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https://docs.google.com/presentation/d/1UaKq_HY1b-NDDwP1fq_-OOHWNldcJzv82Ft8gtrdmFQ/edit?fbclid=IwAR0KMr8yOijqdrsTfdjwIGgzfabQrOR9my1fd0vZboLvGZM-MrKEWiDZ0_I&amp;pli=1#slide=id.g1143f9e4fd9_0_1490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